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Raleway"/>
      <p:regular r:id="rId23"/>
      <p:bold r:id="rId24"/>
      <p:italic r:id="rId25"/>
      <p:boldItalic r:id="rId26"/>
    </p:embeddedFont>
    <p:embeddedFont>
      <p:font typeface="La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27433B5-F8CF-421A-BCD1-7D1CD7271F7A}">
  <a:tblStyle styleId="{727433B5-F8CF-421A-BCD1-7D1CD7271F7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Raleway-bold.fntdata"/><Relationship Id="rId23" Type="http://schemas.openxmlformats.org/officeDocument/2006/relationships/font" Target="fonts/Raleway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aleway-boldItalic.fntdata"/><Relationship Id="rId25" Type="http://schemas.openxmlformats.org/officeDocument/2006/relationships/font" Target="fonts/Raleway-italic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Lat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188ca539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188ca539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188ca539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188ca539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188ca539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b188ca539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5495ee6a0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5495ee6a0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5495ee6a0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5495ee6a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5495ee6a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5495ee6a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188ca5394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b188ca5394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139700" marR="451425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5495ee6a0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b5495ee6a0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139700" marR="451425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188ca5394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b188ca5394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139700" marR="451425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5495ee6a0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b5495ee6a0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5495ee6a0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b5495ee6a0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b5495ee6a0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b5495ee6a0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b5495ee6a0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b5495ee6a0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5495ee6a0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b5495ee6a0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5495ee6a0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b5495ee6a0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b188ca5394_0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b188ca5394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397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hyperlink" Target="https://kovalivska.github.io/my-kpis_and_projects/My_KPIs_and_%D0%A1V5.html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kovalivska.github.io/my-kpis_and_projects/My_KPIs_and_%D0%A1V5.html" TargetMode="External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github.com/Kovalivska/agricultural-production-kpi-analytics" TargetMode="External"/><Relationship Id="rId4" Type="http://schemas.openxmlformats.org/officeDocument/2006/relationships/hyperlink" Target="https://github.com/Kovalivska/UNICORN_Sales_Analysis" TargetMode="External"/><Relationship Id="rId5" Type="http://schemas.openxmlformats.org/officeDocument/2006/relationships/hyperlink" Target="https://public.tableau.com/app/profile/svitlanakovalivska/viz/UNICORNProjectDashboard/DashboardLastverson" TargetMode="External"/><Relationship Id="rId6" Type="http://schemas.openxmlformats.org/officeDocument/2006/relationships/hyperlink" Target="https://public.tableau.com/app/profile/svitlanakovalivska/vizzes" TargetMode="External"/><Relationship Id="rId7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ithub.com/Kovalivska/Metrocar_Funnel_Analysis" TargetMode="External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ithub.com/Kovalivska/retail_demand_forecast" TargetMode="External"/><Relationship Id="rId4" Type="http://schemas.openxmlformats.org/officeDocument/2006/relationships/hyperlink" Target="http://localhost:8504/" TargetMode="External"/><Relationship Id="rId5" Type="http://schemas.openxmlformats.org/officeDocument/2006/relationships/hyperlink" Target="https://github.com/Kovalivska/streamlit-time-series" TargetMode="External"/><Relationship Id="rId6" Type="http://schemas.openxmlformats.org/officeDocument/2006/relationships/hyperlink" Target="https://kovalivska-streamlit-time-series-appapp-5riwmt.streamlit.app/" TargetMode="External"/><Relationship Id="rId7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RevOps Data Analyst: From Data to Decision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446575" y="2834125"/>
            <a:ext cx="6331500" cy="143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/>
              <a:t>Strategic Vision &amp; Technical Execution for PTV Logistics </a:t>
            </a:r>
            <a:br>
              <a:rPr lang="en-GB" sz="1700"/>
            </a:br>
            <a:r>
              <a:rPr lang="en-GB" sz="1700"/>
              <a:t>Svitlana Kovalivska, 14.01.2026 </a:t>
            </a:r>
            <a:endParaRPr b="1" sz="1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770"/>
              <a:buFont typeface="Arial"/>
              <a:buNone/>
            </a:pPr>
            <a:r>
              <a:rPr b="1" lang="en-GB" sz="4800">
                <a:latin typeface="Raleway"/>
                <a:ea typeface="Raleway"/>
                <a:cs typeface="Raleway"/>
                <a:sym typeface="Raleway"/>
              </a:rPr>
              <a:t>Profil &amp; Fokus:</a:t>
            </a:r>
            <a:endParaRPr b="1" sz="2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770"/>
              <a:buFont typeface="Arial"/>
              <a:buNone/>
            </a:pPr>
            <a:r>
              <a:rPr b="1" lang="en-GB" sz="4800">
                <a:latin typeface="Raleway"/>
                <a:ea typeface="Raleway"/>
                <a:cs typeface="Raleway"/>
                <a:sym typeface="Raleway"/>
              </a:rPr>
              <a:t>about me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4750" y="434500"/>
            <a:ext cx="7454400" cy="38660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/>
          <p:nvPr>
            <p:ph idx="1" type="body"/>
          </p:nvPr>
        </p:nvSpPr>
        <p:spPr>
          <a:xfrm>
            <a:off x="974751" y="4381350"/>
            <a:ext cx="9032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4"/>
              </a:rPr>
              <a:t>Portfolio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974751" y="4381350"/>
            <a:ext cx="9032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3"/>
              </a:rPr>
              <a:t>Portfolio</a:t>
            </a:r>
            <a:endParaRPr/>
          </a:p>
        </p:txBody>
      </p:sp>
      <p:pic>
        <p:nvPicPr>
          <p:cNvPr id="90" name="Google Shape;9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3275" y="304800"/>
            <a:ext cx="6691338" cy="407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95" name="Google Shape;9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Match (Requirements vs. Skills)</a:t>
            </a:r>
            <a:endParaRPr/>
          </a:p>
        </p:txBody>
      </p:sp>
      <p:graphicFrame>
        <p:nvGraphicFramePr>
          <p:cNvPr id="101" name="Google Shape;101;p18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{727433B5-F8CF-421A-BCD1-7D1CD7271F7A}</a:tableStyleId>
              </a:tblPr>
              <a:tblGrid>
                <a:gridCol w="2302025"/>
                <a:gridCol w="5467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/>
                        <a:t>PTV Logistics Requirement</a:t>
                      </a:r>
                      <a:endParaRPr b="1" sz="13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/>
                        <a:t>My Expertise &amp; Tools</a:t>
                      </a:r>
                      <a:endParaRPr b="1" sz="1300"/>
                    </a:p>
                  </a:txBody>
                  <a:tcPr marT="19050" marB="19050" marR="91425" marL="9142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Standardized KPI Framework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/>
                        <a:t>Project:</a:t>
                      </a:r>
                      <a:r>
                        <a:rPr lang="en-GB" sz="1300"/>
                        <a:t> Agricultural KPI System. Designed 40+ unified metrics for production efficiency. Used strictly defined logic for "Single Source of Truth."</a:t>
                      </a:r>
                      <a:endParaRPr sz="1300"/>
                    </a:p>
                  </a:txBody>
                  <a:tcPr marT="19050" marB="19050" marR="91425" marL="9142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Funnel &amp; Conversion Analysis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/>
                        <a:t>Project: </a:t>
                      </a:r>
                      <a:r>
                        <a:rPr lang="en-GB" sz="1300"/>
                        <a:t>Metrocar Funnel Analysis. Analyzed customer journey steps, drop-off points, and platform-specific conversion rates.</a:t>
                      </a:r>
                      <a:endParaRPr sz="1300"/>
                    </a:p>
                  </a:txBody>
                  <a:tcPr marT="19050" marB="19050" marR="91425" marL="9142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Python &amp; SQL Automation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/>
                        <a:t>Project: </a:t>
                      </a:r>
                      <a:r>
                        <a:rPr lang="en-GB" sz="1300"/>
                        <a:t>Enterprise ETL Toolkit. Built automated pipelines (Python/PostgreSQL) to clean and validate data across multi-cloud environments.</a:t>
                      </a:r>
                      <a:endParaRPr sz="1300"/>
                    </a:p>
                  </a:txBody>
                  <a:tcPr marT="19050" marB="19050" marR="91425" marL="9142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Dashboarding &amp; Reporting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/>
                        <a:t>Viz Tools: </a:t>
                      </a:r>
                      <a:r>
                        <a:rPr lang="en-GB" sz="1300"/>
                        <a:t>Expert in Tableau &amp; Streamlit. Transferable skills to Power BI, Looker Studio etc. Focus on actionable visualization for leadership.</a:t>
                      </a:r>
                      <a:endParaRPr sz="1300"/>
                    </a:p>
                  </a:txBody>
                  <a:tcPr marT="19050" marB="19050" marR="91425" marL="91425" anchor="b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Experience: Building a "Single Source of Truth" Case Study: Production KPI System</a:t>
            </a:r>
            <a:endParaRPr sz="23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9"/>
          <p:cNvSpPr txBox="1"/>
          <p:nvPr>
            <p:ph idx="4294967295" type="subTitle"/>
          </p:nvPr>
        </p:nvSpPr>
        <p:spPr>
          <a:xfrm>
            <a:off x="162650" y="686386"/>
            <a:ext cx="2074200" cy="17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Project</a:t>
            </a:r>
            <a:endParaRPr b="1" sz="13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Agricultural Production KPI Analytics (Data Coffee GmbH)</a:t>
            </a:r>
            <a:endParaRPr b="1"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GitHub</a:t>
            </a:r>
            <a:r>
              <a:rPr lang="en-GB" sz="1300">
                <a:latin typeface="Arial"/>
                <a:ea typeface="Arial"/>
                <a:cs typeface="Arial"/>
                <a:sym typeface="Arial"/>
              </a:rPr>
              <a:t> 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Sales Performance Analysis</a:t>
            </a:r>
            <a:endParaRPr b="1"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3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GitHub</a:t>
            </a:r>
            <a:r>
              <a:rPr lang="en-GB" sz="13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3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Tableau</a:t>
            </a:r>
            <a:r>
              <a:rPr lang="en-GB" sz="13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3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Dashboards</a:t>
            </a:r>
            <a:endParaRPr sz="1300"/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2426850" y="1612948"/>
            <a:ext cx="42903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Challenge: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Disconnected data sources and inconsistent metric definitions.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Solution: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Developed a unified analytical model with </a:t>
            </a: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40+ standardized KPIs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My Approach: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Strict Definitions: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Defined </a:t>
            </a:r>
            <a:r>
              <a:rPr i="1" lang="en-GB" sz="1200">
                <a:latin typeface="Arial"/>
                <a:ea typeface="Arial"/>
                <a:cs typeface="Arial"/>
                <a:sym typeface="Arial"/>
              </a:rPr>
              <a:t>what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counts (numerator/denominator) to ensure consistency.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Data Integrity: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Implemented SQL validation rules to catch anomalies early.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Result: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A scalable reporting system that reduced manual monitoring effort by ~80% (potential).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br>
              <a:rPr lang="en-GB" sz="1100"/>
            </a:br>
            <a:endParaRPr sz="1100"/>
          </a:p>
        </p:txBody>
      </p:sp>
      <p:sp>
        <p:nvSpPr>
          <p:cNvPr id="109" name="Google Shape;109;p19"/>
          <p:cNvSpPr txBox="1"/>
          <p:nvPr>
            <p:ph idx="2" type="body"/>
          </p:nvPr>
        </p:nvSpPr>
        <p:spPr>
          <a:xfrm>
            <a:off x="6485475" y="1612946"/>
            <a:ext cx="21438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Relevance to RevOps:</a:t>
            </a:r>
            <a:endParaRPr b="1"/>
          </a:p>
          <a:p>
            <a:pPr indent="-3048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I will apply this same rigour to your </a:t>
            </a: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Bowtie metrics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ensuring Sales, Marketing, and CSM speak the same language.</a:t>
            </a:r>
            <a:br>
              <a:rPr lang="en-GB" sz="1300"/>
            </a:br>
            <a:endParaRPr sz="1300"/>
          </a:p>
          <a:p>
            <a:pPr indent="0" lvl="0" marL="4572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/>
          </a:p>
        </p:txBody>
      </p:sp>
      <p:pic>
        <p:nvPicPr>
          <p:cNvPr id="110" name="Google Shape;110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2650" y="3565300"/>
            <a:ext cx="1847952" cy="1050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Experience: Funnel &amp; Trend Detection Case Study: Metrocar Customer Journey</a:t>
            </a:r>
            <a:endParaRPr sz="23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0"/>
          <p:cNvSpPr txBox="1"/>
          <p:nvPr>
            <p:ph idx="4294967295" type="subTitle"/>
          </p:nvPr>
        </p:nvSpPr>
        <p:spPr>
          <a:xfrm>
            <a:off x="162650" y="686386"/>
            <a:ext cx="2074200" cy="17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Project</a:t>
            </a:r>
            <a:endParaRPr b="1" sz="13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Metrocar Funnel Analysis</a:t>
            </a:r>
            <a:endParaRPr b="1"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GitHub</a:t>
            </a:r>
            <a:r>
              <a:rPr lang="en-GB" sz="1300">
                <a:latin typeface="Arial"/>
                <a:ea typeface="Arial"/>
                <a:cs typeface="Arial"/>
                <a:sym typeface="Arial"/>
              </a:rPr>
              <a:t> 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2426850" y="1612948"/>
            <a:ext cx="42903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Scope: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Analyzed the full lifecycle: </a:t>
            </a:r>
            <a:r>
              <a:rPr lang="en-GB" sz="1200">
                <a:solidFill>
                  <a:srgbClr val="F0F6FC"/>
                </a:solidFill>
                <a:highlight>
                  <a:srgbClr val="0D1117"/>
                </a:highlight>
                <a:latin typeface="Arial"/>
                <a:ea typeface="Arial"/>
                <a:cs typeface="Arial"/>
                <a:sym typeface="Arial"/>
              </a:rPr>
              <a:t>App Download → Signup → Ride Request → Ride Accepted → Ride Completed → Payment → Review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Key Insights: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Identified a critical drop-off point between "Ride Request" and "Ride Accepted" (Supply/Demand mismatch).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Methodology: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Cohort Analysis: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Segmented by platform (iOS/Android) and age groups.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Leakage Detection: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Pinpointed exactly where users were leaving the funnel.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br>
              <a:rPr lang="en-GB" sz="1100"/>
            </a:br>
            <a:endParaRPr sz="1100"/>
          </a:p>
        </p:txBody>
      </p:sp>
      <p:sp>
        <p:nvSpPr>
          <p:cNvPr id="118" name="Google Shape;118;p20"/>
          <p:cNvSpPr txBox="1"/>
          <p:nvPr>
            <p:ph idx="2" type="body"/>
          </p:nvPr>
        </p:nvSpPr>
        <p:spPr>
          <a:xfrm>
            <a:off x="6485475" y="1612946"/>
            <a:ext cx="21438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Relevance to RevOps:</a:t>
            </a:r>
            <a:endParaRPr b="1"/>
          </a:p>
          <a:p>
            <a:pPr indent="-3048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I will use this approach to analyze your </a:t>
            </a:r>
            <a:r>
              <a:rPr b="1" lang="en-GB" sz="1100">
                <a:latin typeface="Arial"/>
                <a:ea typeface="Arial"/>
                <a:cs typeface="Arial"/>
                <a:sym typeface="Arial"/>
              </a:rPr>
              <a:t>Stage-to-Stage conversion</a:t>
            </a:r>
            <a:r>
              <a:rPr lang="en-GB" sz="1100">
                <a:latin typeface="Arial"/>
                <a:ea typeface="Arial"/>
                <a:cs typeface="Arial"/>
                <a:sym typeface="Arial"/>
              </a:rPr>
              <a:t>, identify friction points, and improve Velocity.</a:t>
            </a:r>
            <a:br>
              <a:rPr lang="en-GB" sz="1300"/>
            </a:br>
            <a:endParaRPr sz="1300"/>
          </a:p>
          <a:p>
            <a:pPr indent="0" lvl="0" marL="4572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/>
          </a:p>
        </p:txBody>
      </p:sp>
      <p:pic>
        <p:nvPicPr>
          <p:cNvPr id="119" name="Google Shape;11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650" y="2050800"/>
            <a:ext cx="2264200" cy="1041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4500" y="3336400"/>
            <a:ext cx="1891431" cy="1278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ct val="47826"/>
              <a:buFont typeface="Arial"/>
              <a:buNone/>
            </a:pPr>
            <a:r>
              <a:rPr lang="en-GB" sz="23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Predictive Analytics &amp; Demand Forecasting</a:t>
            </a:r>
            <a:endParaRPr sz="23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1"/>
          <p:cNvSpPr txBox="1"/>
          <p:nvPr>
            <p:ph idx="4294967295" type="subTitle"/>
          </p:nvPr>
        </p:nvSpPr>
        <p:spPr>
          <a:xfrm>
            <a:off x="162650" y="575952"/>
            <a:ext cx="2074200" cy="17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Projekten</a:t>
            </a:r>
            <a:endParaRPr b="1" sz="13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Retail Demand Forecast </a:t>
            </a:r>
            <a:r>
              <a:rPr lang="en-GB" sz="13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GitHub</a:t>
            </a:r>
            <a:r>
              <a:rPr lang="en-GB" sz="13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3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LocalStreamlit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 Series Prediction</a:t>
            </a:r>
            <a:endParaRPr b="1"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GitHub</a:t>
            </a:r>
            <a:r>
              <a:rPr lang="en-GB" sz="13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3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Streamlit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1"/>
          <p:cNvSpPr txBox="1"/>
          <p:nvPr>
            <p:ph idx="1" type="body"/>
          </p:nvPr>
        </p:nvSpPr>
        <p:spPr>
          <a:xfrm>
            <a:off x="2400250" y="1409475"/>
            <a:ext cx="6642000" cy="35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Data Scope: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Sales Time-Series Data.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Analysis of Seasonality, Trends, and External Drivers (features).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Methods &amp; Tech Stack: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Statistical Models: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ARIMA, SARIMAX, Prophet.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Machine Learning: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XGBoost, LSTM (Deep Learning).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Techniques: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Advanced Feature Engineering, Time-Series Cross-Validation.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Key Results: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Benchmarking: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Rigorous comparison of multiple models to identify the best performer.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Stability: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Achieved reliable forecasts despite market volatility.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Impact: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Provided the foundation for data-driven Inventory &amp; Supply Chain decisions.</a:t>
            </a:r>
            <a:br>
              <a:rPr lang="en-GB" sz="1000"/>
            </a:br>
            <a:endParaRPr sz="1000"/>
          </a:p>
        </p:txBody>
      </p:sp>
      <p:pic>
        <p:nvPicPr>
          <p:cNvPr id="128" name="Google Shape;128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2400" y="2534075"/>
            <a:ext cx="1531824" cy="2031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 txBox="1"/>
          <p:nvPr>
            <p:ph type="title"/>
          </p:nvPr>
        </p:nvSpPr>
        <p:spPr>
          <a:xfrm>
            <a:off x="283099" y="712150"/>
            <a:ext cx="78507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Strategic Insight (Power Law v.s. Normal Distribution)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 sz="2700">
                <a:solidFill>
                  <a:schemeClr val="dk2"/>
                </a:solidFill>
              </a:rPr>
              <a:t>Strategic View: Analyzing PTV as a B2B SaaS</a:t>
            </a:r>
            <a:endParaRPr sz="1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4"/>
                </a:solidFill>
              </a:rPr>
              <a:t>Strategic Context: 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4"/>
                </a:solidFill>
              </a:rPr>
              <a:t>The Physics of Your Revenue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39" name="Google Shape;139;p23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750">
                <a:latin typeface="Arial"/>
                <a:ea typeface="Arial"/>
                <a:cs typeface="Arial"/>
                <a:sym typeface="Arial"/>
              </a:rPr>
              <a:t>Normal Distribution</a:t>
            </a:r>
            <a:r>
              <a:rPr lang="en-GB" sz="2750">
                <a:latin typeface="Arial"/>
                <a:ea typeface="Arial"/>
                <a:cs typeface="Arial"/>
                <a:sym typeface="Arial"/>
              </a:rPr>
              <a:t> (The "Average" World)</a:t>
            </a:r>
            <a:endParaRPr sz="27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4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4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4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4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4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4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4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2505"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1" lang="en-GB" sz="2687">
                <a:latin typeface="Arial"/>
                <a:ea typeface="Arial"/>
                <a:cs typeface="Arial"/>
                <a:sym typeface="Arial"/>
              </a:rPr>
              <a:t>xamples:</a:t>
            </a:r>
            <a:r>
              <a:rPr lang="en-GB" sz="2687">
                <a:latin typeface="Arial"/>
                <a:ea typeface="Arial"/>
                <a:cs typeface="Arial"/>
                <a:sym typeface="Arial"/>
              </a:rPr>
              <a:t> Height, Aviation, Manufacturing, traditional Business (e.g., B2C, Retail)</a:t>
            </a:r>
            <a:br>
              <a:rPr b="1" lang="en-GB" sz="2687">
                <a:latin typeface="Arial"/>
                <a:ea typeface="Arial"/>
                <a:cs typeface="Arial"/>
                <a:sym typeface="Arial"/>
              </a:rPr>
            </a:br>
            <a:r>
              <a:rPr b="1" lang="en-GB" sz="2687">
                <a:latin typeface="Arial"/>
                <a:ea typeface="Arial"/>
                <a:cs typeface="Arial"/>
                <a:sym typeface="Arial"/>
              </a:rPr>
              <a:t>Dynamics:</a:t>
            </a:r>
            <a:r>
              <a:rPr lang="en-GB" sz="2687">
                <a:latin typeface="Arial"/>
                <a:ea typeface="Arial"/>
                <a:cs typeface="Arial"/>
                <a:sym typeface="Arial"/>
              </a:rPr>
              <a:t> Events cluster around the average. Stability is the norm.</a:t>
            </a:r>
            <a:br>
              <a:rPr lang="en-GB" sz="2687">
                <a:latin typeface="Arial"/>
                <a:ea typeface="Arial"/>
                <a:cs typeface="Arial"/>
                <a:sym typeface="Arial"/>
              </a:rPr>
            </a:br>
            <a:r>
              <a:rPr b="1" lang="en-GB" sz="2687">
                <a:latin typeface="Arial"/>
                <a:ea typeface="Arial"/>
                <a:cs typeface="Arial"/>
                <a:sym typeface="Arial"/>
              </a:rPr>
              <a:t>Strategy:</a:t>
            </a:r>
            <a:r>
              <a:rPr lang="en-GB" sz="2687">
                <a:latin typeface="Arial"/>
                <a:ea typeface="Arial"/>
                <a:cs typeface="Arial"/>
                <a:sym typeface="Arial"/>
              </a:rPr>
              <a:t> Optimize the mean.</a:t>
            </a:r>
            <a:endParaRPr sz="2687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3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50">
                <a:latin typeface="Arial"/>
                <a:ea typeface="Arial"/>
                <a:cs typeface="Arial"/>
                <a:sym typeface="Arial"/>
              </a:rPr>
              <a:t>Power Law</a:t>
            </a:r>
            <a:r>
              <a:rPr lang="en-GB" sz="1250">
                <a:latin typeface="Arial"/>
                <a:ea typeface="Arial"/>
                <a:cs typeface="Arial"/>
                <a:sym typeface="Arial"/>
              </a:rPr>
              <a:t> (The "SaaS" World)</a:t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217">
                <a:latin typeface="Arial"/>
                <a:ea typeface="Arial"/>
                <a:cs typeface="Arial"/>
                <a:sym typeface="Arial"/>
              </a:rPr>
              <a:t>Examples:</a:t>
            </a:r>
            <a:r>
              <a:rPr lang="en-GB" sz="1217">
                <a:latin typeface="Arial"/>
                <a:ea typeface="Arial"/>
                <a:cs typeface="Arial"/>
                <a:sym typeface="Arial"/>
              </a:rPr>
              <a:t> Earthquakes, Venture Capital, </a:t>
            </a:r>
            <a:r>
              <a:rPr b="1" lang="en-GB" sz="1217">
                <a:latin typeface="Arial"/>
                <a:ea typeface="Arial"/>
                <a:cs typeface="Arial"/>
                <a:sym typeface="Arial"/>
              </a:rPr>
              <a:t>Enterprise Software</a:t>
            </a:r>
            <a:r>
              <a:rPr lang="en-GB" sz="1217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1" lang="en-GB" sz="1217">
                <a:latin typeface="Arial"/>
                <a:ea typeface="Arial"/>
                <a:cs typeface="Arial"/>
                <a:sym typeface="Arial"/>
              </a:rPr>
            </a:br>
            <a:r>
              <a:rPr b="1" lang="en-GB" sz="1217">
                <a:latin typeface="Arial"/>
                <a:ea typeface="Arial"/>
                <a:cs typeface="Arial"/>
                <a:sym typeface="Arial"/>
              </a:rPr>
              <a:t>Dynamics:</a:t>
            </a:r>
            <a:r>
              <a:rPr lang="en-GB" sz="1217">
                <a:latin typeface="Arial"/>
                <a:ea typeface="Arial"/>
                <a:cs typeface="Arial"/>
                <a:sym typeface="Arial"/>
              </a:rPr>
              <a:t> Extreme outliers drive the outcome. "Winner takes most."</a:t>
            </a:r>
            <a:br>
              <a:rPr lang="en-GB" sz="1217">
                <a:latin typeface="Arial"/>
                <a:ea typeface="Arial"/>
                <a:cs typeface="Arial"/>
                <a:sym typeface="Arial"/>
              </a:rPr>
            </a:br>
            <a:r>
              <a:rPr b="1" lang="en-GB" sz="1217">
                <a:latin typeface="Arial"/>
                <a:ea typeface="Arial"/>
                <a:cs typeface="Arial"/>
                <a:sym typeface="Arial"/>
              </a:rPr>
              <a:t>Strategy:</a:t>
            </a:r>
            <a:r>
              <a:rPr lang="en-GB" sz="1217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GB" sz="1217">
                <a:latin typeface="Arial"/>
                <a:ea typeface="Arial"/>
                <a:cs typeface="Arial"/>
                <a:sym typeface="Arial"/>
              </a:rPr>
              <a:t>Scale the outliers.</a:t>
            </a:r>
            <a:endParaRPr sz="1217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3"/>
          <p:cNvSpPr txBox="1"/>
          <p:nvPr/>
        </p:nvSpPr>
        <p:spPr>
          <a:xfrm>
            <a:off x="129550" y="1697963"/>
            <a:ext cx="2270700" cy="24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My Assessment:</a:t>
            </a:r>
            <a:r>
              <a:rPr lang="en-GB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PTV Logistics operates under the </a:t>
            </a:r>
            <a:r>
              <a:rPr b="1" lang="en-GB" sz="1100">
                <a:solidFill>
                  <a:schemeClr val="dk1"/>
                </a:solidFill>
              </a:rPr>
              <a:t>Power Law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Revenue Concentration:</a:t>
            </a:r>
            <a:r>
              <a:rPr lang="en-GB" sz="1100">
                <a:solidFill>
                  <a:schemeClr val="dk1"/>
                </a:solidFill>
              </a:rPr>
              <a:t> Enterprise deals vs. SMBs.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Network Effects:</a:t>
            </a:r>
            <a:r>
              <a:rPr lang="en-GB" sz="1100">
                <a:solidFill>
                  <a:schemeClr val="dk1"/>
                </a:solidFill>
              </a:rPr>
              <a:t> Data accuracy grows with user volume.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Impact:</a:t>
            </a:r>
            <a:r>
              <a:rPr lang="en-GB" sz="1100">
                <a:solidFill>
                  <a:schemeClr val="dk1"/>
                </a:solidFill>
              </a:rPr>
              <a:t> Treating all clients as "average" is a strategic risk.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2" name="Google Shape;14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7625" y="1992800"/>
            <a:ext cx="1686975" cy="168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6775" y="1857175"/>
            <a:ext cx="1673744" cy="168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48" name="Google Shape;14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​​Operational Philosophy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4"/>
                </a:solidFill>
              </a:rPr>
              <a:t>Methodology: Monitoring Health vs. Driving Growth 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50">
                <a:solidFill>
                  <a:schemeClr val="accent4"/>
                </a:solidFill>
              </a:rPr>
              <a:t>Aligning PTV’s Data Strategy with Business Outcomes</a:t>
            </a:r>
            <a:endParaRPr sz="1850">
              <a:solidFill>
                <a:schemeClr val="accent4"/>
              </a:solidFill>
            </a:endParaRPr>
          </a:p>
        </p:txBody>
      </p:sp>
      <p:sp>
        <p:nvSpPr>
          <p:cNvPr id="159" name="Google Shape;159;p26"/>
          <p:cNvSpPr txBox="1"/>
          <p:nvPr>
            <p:ph idx="1" type="body"/>
          </p:nvPr>
        </p:nvSpPr>
        <p:spPr>
          <a:xfrm>
            <a:off x="2400300" y="2075525"/>
            <a:ext cx="3071400" cy="25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Arial"/>
                <a:ea typeface="Arial"/>
                <a:cs typeface="Arial"/>
                <a:sym typeface="Arial"/>
              </a:rPr>
              <a:t>1. The Dashboard (KPIs)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Role: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Measure Health &amp; Stability.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Focus: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The Bowtie Framework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. Ensuring standardized definitions across Sales, Marketing, CSM.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My Approach: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"Is the system working?"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Example: Monitoring Churn Rate stability.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6"/>
          <p:cNvSpPr txBox="1"/>
          <p:nvPr>
            <p:ph idx="2" type="body"/>
          </p:nvPr>
        </p:nvSpPr>
        <p:spPr>
          <a:xfrm>
            <a:off x="5650575" y="2075500"/>
            <a:ext cx="3071400" cy="25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Arial"/>
                <a:ea typeface="Arial"/>
                <a:cs typeface="Arial"/>
                <a:sym typeface="Arial"/>
              </a:rPr>
              <a:t>2. The Engine (OKRs)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Role: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Drive Change &amp; Strategy.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Focus: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Funnel Optimization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. Fixing the "leakage points" identified in the data.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My Approach: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"How do we improve?"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Example: Reducing Enterprise Churn by 5% via predictive aler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ts.</a:t>
            </a:r>
            <a:endParaRPr b="1" sz="13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6"/>
          <p:cNvSpPr txBox="1"/>
          <p:nvPr/>
        </p:nvSpPr>
        <p:spPr>
          <a:xfrm>
            <a:off x="73025" y="2075488"/>
            <a:ext cx="2270700" cy="24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My Approach:</a:t>
            </a:r>
            <a:r>
              <a:rPr lang="en-GB" sz="1300">
                <a:solidFill>
                  <a:schemeClr val="dk1"/>
                </a:solidFill>
              </a:rPr>
              <a:t> </a:t>
            </a:r>
            <a:endParaRPr sz="13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I don't just report numbers. I use </a:t>
            </a:r>
            <a:r>
              <a:rPr b="1" lang="en-GB" sz="1200">
                <a:solidFill>
                  <a:schemeClr val="dk1"/>
                </a:solidFill>
              </a:rPr>
              <a:t>KPIs</a:t>
            </a:r>
            <a:r>
              <a:rPr lang="en-GB" sz="1200">
                <a:solidFill>
                  <a:schemeClr val="dk1"/>
                </a:solidFill>
              </a:rPr>
              <a:t> to diagnose issues and help Leadership set data-driven </a:t>
            </a:r>
            <a:r>
              <a:rPr b="1" lang="en-GB" sz="1200">
                <a:solidFill>
                  <a:schemeClr val="dk1"/>
                </a:solidFill>
              </a:rPr>
              <a:t>OKRs</a:t>
            </a:r>
            <a:r>
              <a:rPr lang="en-GB" sz="1200">
                <a:solidFill>
                  <a:schemeClr val="dk1"/>
                </a:solidFill>
              </a:rPr>
              <a:t> to solve them.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My Plan: </a:t>
            </a:r>
            <a:endParaRPr/>
          </a:p>
        </p:txBody>
      </p:sp>
      <p:sp>
        <p:nvSpPr>
          <p:cNvPr id="167" name="Google Shape;167;p27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GB" sz="3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First 90 Days</a:t>
            </a:r>
            <a:endParaRPr/>
          </a:p>
        </p:txBody>
      </p:sp>
      <p:sp>
        <p:nvSpPr>
          <p:cNvPr id="168" name="Google Shape;168;p2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GB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Month 1: Audit &amp; Map.</a:t>
            </a:r>
            <a:endParaRPr b="1"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lang="en-GB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Deep dive into current KPI definitions (Are Marketing and Sales measuring 'MQL' the same way?).</a:t>
            </a:r>
            <a:endParaRPr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lang="en-GB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Map the data flow between CRM and Data Warehouse.</a:t>
            </a:r>
            <a:endParaRPr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GB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Month 2: Standardize &amp; Build.</a:t>
            </a:r>
            <a:endParaRPr b="1"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lang="en-GB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Document the "Bowtie" metric logic.</a:t>
            </a:r>
            <a:endParaRPr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lang="en-GB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Build the first "Power-Law focused" dashboard (segmenting Enterprise vs. SMB).</a:t>
            </a:r>
            <a:endParaRPr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GB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Month 3: Optimize.</a:t>
            </a:r>
            <a:endParaRPr b="1"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lang="en-GB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Identify one major "Leakage Point" in the funnel.</a:t>
            </a:r>
            <a:endParaRPr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lang="en-GB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Present actionable insights to leadership to improve conversion velocity.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ct val="47826"/>
              <a:buFont typeface="Arial"/>
              <a:buNone/>
            </a:pPr>
            <a:r>
              <a:rPr lang="en-GB" sz="23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Summary: Ready to Drive Revenue Efficiency</a:t>
            </a:r>
            <a:endParaRPr sz="23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8"/>
          <p:cNvSpPr txBox="1"/>
          <p:nvPr>
            <p:ph idx="1" type="body"/>
          </p:nvPr>
        </p:nvSpPr>
        <p:spPr>
          <a:xfrm>
            <a:off x="2400262" y="1466832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9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latin typeface="Arial"/>
                <a:ea typeface="Arial"/>
                <a:cs typeface="Arial"/>
                <a:sym typeface="Arial"/>
              </a:rPr>
              <a:t>Technical:</a:t>
            </a:r>
            <a:r>
              <a:rPr lang="en-GB" sz="1500">
                <a:latin typeface="Arial"/>
                <a:ea typeface="Arial"/>
                <a:cs typeface="Arial"/>
                <a:sym typeface="Arial"/>
              </a:rPr>
              <a:t> Python, SQL, KPI Design, Dashboarding.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1397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139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latin typeface="Arial"/>
                <a:ea typeface="Arial"/>
                <a:cs typeface="Arial"/>
                <a:sym typeface="Arial"/>
              </a:rPr>
              <a:t>Strategic:</a:t>
            </a:r>
            <a:r>
              <a:rPr lang="en-GB" sz="1500">
                <a:latin typeface="Arial"/>
                <a:ea typeface="Arial"/>
                <a:cs typeface="Arial"/>
                <a:sym typeface="Arial"/>
              </a:rPr>
              <a:t> Power-Law Mindset, System Thinking.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1397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139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latin typeface="Arial"/>
                <a:ea typeface="Arial"/>
                <a:cs typeface="Arial"/>
                <a:sym typeface="Arial"/>
              </a:rPr>
              <a:t>Motivated:</a:t>
            </a:r>
            <a:r>
              <a:rPr lang="en-GB" sz="1500">
                <a:latin typeface="Arial"/>
                <a:ea typeface="Arial"/>
                <a:cs typeface="Arial"/>
                <a:sym typeface="Arial"/>
              </a:rPr>
              <a:t> Passionate about Logistics and clear, honest data.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139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139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0" lvl="0" marL="139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0" lvl="0" marL="139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0" lvl="0" marL="139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9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500">
                <a:latin typeface="Arial"/>
                <a:ea typeface="Arial"/>
                <a:cs typeface="Arial"/>
                <a:sym typeface="Arial"/>
              </a:rPr>
              <a:t>Svitlana Kovalivska</a:t>
            </a:r>
            <a:endParaRPr i="1" sz="1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